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E0A145"/>
                </a:solidFill>
                <a:latin typeface="Consolas"/>
              </a:rPr>
              <a:t>TRABAJO PRÁCTICO FINAL · INTELIGENCIA ARTIFICIAL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320040" cy="31750"/>
          </a:xfrm>
          <a:prstGeom prst="rect">
            <a:avLst/>
          </a:prstGeom>
          <a:solidFill>
            <a:srgbClr val="E0A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457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5400" b="1">
                <a:solidFill>
                  <a:srgbClr val="EEF0F6"/>
                </a:solidFill>
                <a:latin typeface="Segoe UI"/>
              </a:rPr>
              <a:t>Coding Agent Avanzado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749807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2000" b="0">
                <a:solidFill>
                  <a:srgbClr val="B6BCCD"/>
                </a:solidFill>
                <a:latin typeface="Segoe UI"/>
              </a:rPr>
              <a:t>Un agente de coding evolucionado a un sistema multi-agente en Python, construido sin frameworks de orquestación.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20640"/>
            <a:ext cx="1054577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808799"/>
                </a:solidFill>
                <a:latin typeface="Consolas"/>
              </a:rPr>
              <a:t>Alumnos:  Fierro · Mangini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808799"/>
                </a:solidFill>
                <a:latin typeface="Consolas"/>
              </a:rPr>
              <a:t>Caso de uso:  análisis automático de repositorios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E0A145"/>
                </a:solidFill>
                <a:latin typeface="Consolas"/>
              </a:rPr>
              <a:t>01 · OBJETIVO DEL TRABAJO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320040" cy="31750"/>
          </a:xfrm>
          <a:prstGeom prst="rect">
            <a:avLst/>
          </a:prstGeom>
          <a:solidFill>
            <a:srgbClr val="E0A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4577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EEF0F6"/>
                </a:solidFill>
                <a:latin typeface="Segoe UI"/>
              </a:rPr>
              <a:t>Evolucionar el coding agent del TP de clase.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800" b="0">
                <a:solidFill>
                  <a:srgbClr val="B6BCCD"/>
                </a:solidFill>
                <a:latin typeface="Segoe UI"/>
              </a:rPr>
              <a:t>Partiendo del agente base (loop LLM + tools), se incorporaron las capacidades de un sistema multi-agente: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10545775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900" b="1">
                <a:solidFill>
                  <a:srgbClr val="E0A145"/>
                </a:solidFill>
                <a:latin typeface="Segoe UI"/>
              </a:rPr>
              <a:t>▪  </a:t>
            </a:r>
            <a:r>
              <a:rPr sz="1900" b="0">
                <a:solidFill>
                  <a:srgbClr val="EEF0F6"/>
                </a:solidFill>
                <a:latin typeface="Segoe UI"/>
              </a:rPr>
              <a:t>Un </a:t>
            </a:r>
            <a:r>
              <a:rPr sz="1900" b="1">
                <a:solidFill>
                  <a:srgbClr val="EEF0F6"/>
                </a:solidFill>
                <a:latin typeface="Segoe UI"/>
              </a:rPr>
              <a:t>agente principal</a:t>
            </a:r>
            <a:r>
              <a:rPr sz="1900" b="0">
                <a:solidFill>
                  <a:srgbClr val="EEF0F6"/>
                </a:solidFill>
                <a:latin typeface="Segoe UI"/>
              </a:rPr>
              <a:t> coordinador (orquestador).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900" b="1">
                <a:solidFill>
                  <a:srgbClr val="E0A145"/>
                </a:solidFill>
                <a:latin typeface="Segoe UI"/>
              </a:rPr>
              <a:t>▪  </a:t>
            </a:r>
            <a:r>
              <a:rPr sz="1900" b="0">
                <a:solidFill>
                  <a:srgbClr val="EEF0F6"/>
                </a:solidFill>
                <a:latin typeface="Segoe UI"/>
              </a:rPr>
              <a:t>Cinco </a:t>
            </a:r>
            <a:r>
              <a:rPr sz="1900" b="1">
                <a:solidFill>
                  <a:srgbClr val="EEF0F6"/>
                </a:solidFill>
                <a:latin typeface="Segoe UI"/>
              </a:rPr>
              <a:t>subagentes</a:t>
            </a:r>
            <a:r>
              <a:rPr sz="1900" b="0">
                <a:solidFill>
                  <a:srgbClr val="EEF0F6"/>
                </a:solidFill>
                <a:latin typeface="Segoe UI"/>
              </a:rPr>
              <a:t>: Explorer, Researcher, Implementer, Tester y Reviewer.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900" b="1">
                <a:solidFill>
                  <a:srgbClr val="E0A145"/>
                </a:solidFill>
                <a:latin typeface="Segoe UI"/>
              </a:rPr>
              <a:t>▪  </a:t>
            </a:r>
            <a:r>
              <a:rPr sz="1900" b="1">
                <a:solidFill>
                  <a:srgbClr val="EEF0F6"/>
                </a:solidFill>
                <a:latin typeface="Segoe UI"/>
              </a:rPr>
              <a:t>RAG</a:t>
            </a:r>
            <a:r>
              <a:rPr sz="1900" b="0">
                <a:solidFill>
                  <a:srgbClr val="EEF0F6"/>
                </a:solidFill>
                <a:latin typeface="Segoe UI"/>
              </a:rPr>
              <a:t> con vector store y </a:t>
            </a:r>
            <a:r>
              <a:rPr sz="1900" b="1">
                <a:solidFill>
                  <a:srgbClr val="EEF0F6"/>
                </a:solidFill>
                <a:latin typeface="Segoe UI"/>
              </a:rPr>
              <a:t>memoria persistente</a:t>
            </a:r>
            <a:r>
              <a:rPr sz="1900" b="0">
                <a:solidFill>
                  <a:srgbClr val="EEF0F6"/>
                </a:solidFill>
                <a:latin typeface="Segoe UI"/>
              </a:rPr>
              <a:t> por proyecto.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900" b="1">
                <a:solidFill>
                  <a:srgbClr val="E0A145"/>
                </a:solidFill>
                <a:latin typeface="Segoe UI"/>
              </a:rPr>
              <a:t>▪  </a:t>
            </a:r>
            <a:r>
              <a:rPr sz="1900" b="1">
                <a:solidFill>
                  <a:srgbClr val="EEF0F6"/>
                </a:solidFill>
                <a:latin typeface="Segoe UI"/>
              </a:rPr>
              <a:t>Políticas de seguridad</a:t>
            </a:r>
            <a:r>
              <a:rPr sz="1900" b="0">
                <a:solidFill>
                  <a:srgbClr val="EEF0F6"/>
                </a:solidFill>
                <a:latin typeface="Segoe UI"/>
              </a:rPr>
              <a:t> validadas antes de cada tool.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900" b="1">
                <a:solidFill>
                  <a:srgbClr val="E0A145"/>
                </a:solidFill>
                <a:latin typeface="Segoe UI"/>
              </a:rPr>
              <a:t>▪  </a:t>
            </a:r>
            <a:r>
              <a:rPr sz="1900" b="1">
                <a:solidFill>
                  <a:srgbClr val="EEF0F6"/>
                </a:solidFill>
                <a:latin typeface="Segoe UI"/>
              </a:rPr>
              <a:t>Observabilidad</a:t>
            </a:r>
            <a:r>
              <a:rPr sz="1900" b="0">
                <a:solidFill>
                  <a:srgbClr val="EEF0F6"/>
                </a:solidFill>
                <a:latin typeface="Segoe UI"/>
              </a:rPr>
              <a:t> con Langfuse.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E0A145"/>
                </a:solidFill>
                <a:latin typeface="Consolas"/>
              </a:rPr>
              <a:t>02 · CASO DE USO ELEGIDO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320040" cy="31750"/>
          </a:xfrm>
          <a:prstGeom prst="rect">
            <a:avLst/>
          </a:prstGeom>
          <a:solidFill>
            <a:srgbClr val="E0A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4577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EEF0F6"/>
                </a:solidFill>
                <a:latin typeface="Segoe UI"/>
              </a:rPr>
              <a:t>Analizar un repositorio desconocido y producir un reporte.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51206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E0A145"/>
                </a:solidFill>
                <a:latin typeface="Segoe UI"/>
              </a:rPr>
              <a:t>▪  </a:t>
            </a:r>
            <a:r>
              <a:rPr sz="1800" b="1">
                <a:solidFill>
                  <a:srgbClr val="EEF0F6"/>
                </a:solidFill>
                <a:latin typeface="Segoe UI"/>
              </a:rPr>
              <a:t>Ecosistema: </a:t>
            </a:r>
            <a:r>
              <a:rPr sz="1800" b="0">
                <a:solidFill>
                  <a:srgbClr val="EEF0F6"/>
                </a:solidFill>
                <a:latin typeface="Segoe UI"/>
              </a:rPr>
              <a:t>Python (packaging, tests, CI).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E0A145"/>
                </a:solidFill>
                <a:latin typeface="Segoe UI"/>
              </a:rPr>
              <a:t>▪  </a:t>
            </a:r>
            <a:r>
              <a:rPr sz="1800" b="1">
                <a:solidFill>
                  <a:srgbClr val="EEF0F6"/>
                </a:solidFill>
                <a:latin typeface="Segoe UI"/>
              </a:rPr>
              <a:t>Repositorio usado: </a:t>
            </a:r>
            <a:r>
              <a:rPr sz="1800" b="0">
                <a:solidFill>
                  <a:srgbClr val="EEF0F6"/>
                </a:solidFill>
                <a:latin typeface="Consolas"/>
              </a:rPr>
              <a:t>pypa/sampleproject</a:t>
            </a:r>
            <a:r>
              <a:rPr sz="1800" b="0">
                <a:solidFill>
                  <a:srgbClr val="EEF0F6"/>
                </a:solidFill>
                <a:latin typeface="Segoe UI"/>
              </a:rPr>
              <a:t>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E0A145"/>
                </a:solidFill>
                <a:latin typeface="Segoe UI"/>
              </a:rPr>
              <a:t>▪  </a:t>
            </a:r>
            <a:r>
              <a:rPr sz="1800" b="1">
                <a:solidFill>
                  <a:srgbClr val="EEF0F6"/>
                </a:solidFill>
                <a:latin typeface="Segoe UI"/>
              </a:rPr>
              <a:t>Salida: </a:t>
            </a:r>
            <a:r>
              <a:rPr sz="1800" b="0">
                <a:solidFill>
                  <a:srgbClr val="EEF0F6"/>
                </a:solidFill>
                <a:latin typeface="Segoe UI"/>
              </a:rPr>
              <a:t>reporte verificable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E0A145"/>
                </a:solidFill>
                <a:latin typeface="Segoe UI"/>
              </a:rPr>
              <a:t>▪  </a:t>
            </a:r>
            <a:r>
              <a:rPr sz="1800" b="0">
                <a:solidFill>
                  <a:srgbClr val="EEF0F6"/>
                </a:solidFill>
                <a:latin typeface="Segoe UI"/>
              </a:rPr>
              <a:t>en </a:t>
            </a:r>
            <a:r>
              <a:rPr sz="1800" b="0">
                <a:solidFill>
                  <a:srgbClr val="EEF0F6"/>
                </a:solidFill>
                <a:latin typeface="Consolas"/>
              </a:rPr>
              <a:t>REPORTE-ANALISIS.md</a:t>
            </a:r>
            <a:r>
              <a:rPr sz="1800" b="0">
                <a:solidFill>
                  <a:srgbClr val="EEF0F6"/>
                </a:solidFill>
                <a:latin typeface="Segoe U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965960"/>
            <a:ext cx="5059375" cy="4023360"/>
          </a:xfrm>
          <a:prstGeom prst="roundRect">
            <a:avLst>
              <a:gd name="adj" fmla="val 6000"/>
            </a:avLst>
          </a:prstGeom>
          <a:solidFill>
            <a:srgbClr val="1F232F"/>
          </a:solidFill>
          <a:ln w="12700">
            <a:solidFill>
              <a:srgbClr val="2A2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148840"/>
            <a:ext cx="451073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E0A145"/>
                </a:solidFill>
                <a:latin typeface="Consolas"/>
              </a:rPr>
              <a:t>REPORTE-ANALISIS.md · extracto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E0A145"/>
                </a:solidFill>
                <a:latin typeface="Consolas"/>
              </a:rPr>
              <a:t>## Estructura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B6BCCD"/>
                </a:solidFill>
                <a:latin typeface="Consolas"/>
              </a:rPr>
              <a:t>- src/            código fuente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B6BCCD"/>
                </a:solidFill>
                <a:latin typeface="Consolas"/>
              </a:rPr>
              <a:t>- tests/          pruebas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B6BCCD"/>
                </a:solidFill>
                <a:latin typeface="Consolas"/>
              </a:rPr>
              <a:t>- pyproject.toml  packaging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EEF0F6"/>
                </a:solidFill>
                <a:latin typeface="Consolas"/>
              </a:rPr>
              <a:t/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E0A145"/>
                </a:solidFill>
                <a:latin typeface="Consolas"/>
              </a:rPr>
              <a:t>## Dependencias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B6BCCD"/>
                </a:solidFill>
                <a:latin typeface="Consolas"/>
              </a:rPr>
              <a:t>- peppercorn                (runtime)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B6BCCD"/>
                </a:solidFill>
                <a:latin typeface="Consolas"/>
              </a:rPr>
              <a:t>- check-manifest, coverage  (dev)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EEF0F6"/>
                </a:solidFill>
                <a:latin typeface="Consolas"/>
              </a:rPr>
              <a:t/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E0A145"/>
                </a:solidFill>
                <a:latin typeface="Consolas"/>
              </a:rPr>
              <a:t>## Comandos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B6BCCD"/>
                </a:solidFill>
                <a:latin typeface="Consolas"/>
              </a:rPr>
              <a:t>- nox -s lint    flake8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B6BCCD"/>
                </a:solidFill>
                <a:latin typeface="Consolas"/>
              </a:rPr>
              <a:t>- nox -s tests   pytest 3.9-3.13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EEF0F6"/>
                </a:solidFill>
                <a:latin typeface="Consolas"/>
              </a:rPr>
              <a:t/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E0A145"/>
                </a:solidFill>
                <a:latin typeface="Consolas"/>
              </a:rPr>
              <a:t>## Fuentes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B6BCCD"/>
                </a:solidFill>
                <a:latin typeface="Consolas"/>
              </a:rPr>
              <a:t>- python-ecosystem-guide.md  </a:t>
            </a:r>
            <a:r>
              <a:rPr sz="1150" b="0">
                <a:solidFill>
                  <a:srgbClr val="5CBD8A"/>
                </a:solidFill>
                <a:latin typeface="Consolas"/>
              </a:rPr>
              <a:t>(rag)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B6BCCD"/>
                </a:solidFill>
                <a:latin typeface="Consolas"/>
              </a:rPr>
              <a:t>- packaging.python.org       </a:t>
            </a:r>
            <a:r>
              <a:rPr sz="1150" b="0">
                <a:solidFill>
                  <a:srgbClr val="5CBD8A"/>
                </a:solidFill>
                <a:latin typeface="Consolas"/>
              </a:rPr>
              <a:t>(web)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E0A145"/>
                </a:solidFill>
                <a:latin typeface="Consolas"/>
              </a:rPr>
              <a:t>03 · ARQUITECTURA GENERAL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320040" cy="31750"/>
          </a:xfrm>
          <a:prstGeom prst="rect">
            <a:avLst/>
          </a:prstGeom>
          <a:solidFill>
            <a:srgbClr val="E0A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4577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EEF0F6"/>
                </a:solidFill>
                <a:latin typeface="Segoe UI"/>
              </a:rPr>
              <a:t>Un orquestador coordina, los subagentes ejecutan.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965960"/>
            <a:ext cx="3200400" cy="50292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A2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EF0F6"/>
                </a:solidFill>
                <a:latin typeface="Consolas"/>
              </a:rPr>
              <a:t>Usuario · pedido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2743200"/>
            <a:ext cx="4663440" cy="548640"/>
          </a:xfrm>
          <a:prstGeom prst="roundRect">
            <a:avLst>
              <a:gd name="adj" fmla="val 6000"/>
            </a:avLst>
          </a:prstGeom>
          <a:solidFill>
            <a:srgbClr val="E0A145"/>
          </a:solidFill>
          <a:ln w="12700">
            <a:solidFill>
              <a:srgbClr val="E0A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4110A"/>
                </a:solidFill>
                <a:latin typeface="Consolas"/>
              </a:rPr>
              <a:t>Agente principal · Orquestador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657600"/>
            <a:ext cx="2036003" cy="68580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A2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EF0F6"/>
                </a:solidFill>
                <a:latin typeface="Consolas"/>
              </a:rPr>
              <a:t>Explorer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657600"/>
            <a:ext cx="2036003" cy="38100"/>
          </a:xfrm>
          <a:prstGeom prst="rect">
            <a:avLst/>
          </a:prstGeom>
          <a:solidFill>
            <a:srgbClr val="4FB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50403" y="3657600"/>
            <a:ext cx="2036003" cy="68580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A2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EF0F6"/>
                </a:solidFill>
                <a:latin typeface="Consolas"/>
              </a:rPr>
              <a:t>Researcher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50403" y="3657600"/>
            <a:ext cx="2036003" cy="38100"/>
          </a:xfrm>
          <a:prstGeom prst="rect">
            <a:avLst/>
          </a:prstGeom>
          <a:solidFill>
            <a:srgbClr val="4FB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77846" y="3657600"/>
            <a:ext cx="2036003" cy="68580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A2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EF0F6"/>
                </a:solidFill>
                <a:latin typeface="Consolas"/>
              </a:rPr>
              <a:t>Implementer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7846" y="3657600"/>
            <a:ext cx="2036003" cy="38100"/>
          </a:xfrm>
          <a:prstGeom prst="rect">
            <a:avLst/>
          </a:prstGeom>
          <a:solidFill>
            <a:srgbClr val="4FB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205289" y="3657600"/>
            <a:ext cx="2036003" cy="68580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A2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EF0F6"/>
                </a:solidFill>
                <a:latin typeface="Consolas"/>
              </a:rPr>
              <a:t>Tester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5289" y="3657600"/>
            <a:ext cx="2036003" cy="38100"/>
          </a:xfrm>
          <a:prstGeom prst="rect">
            <a:avLst/>
          </a:prstGeom>
          <a:solidFill>
            <a:srgbClr val="4FB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32732" y="3657600"/>
            <a:ext cx="2036003" cy="68580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A2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EF0F6"/>
                </a:solidFill>
                <a:latin typeface="Consolas"/>
              </a:rPr>
              <a:t>Reviewer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32732" y="3657600"/>
            <a:ext cx="2036003" cy="38100"/>
          </a:xfrm>
          <a:prstGeom prst="rect">
            <a:avLst/>
          </a:prstGeom>
          <a:solidFill>
            <a:srgbClr val="4FB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651760" y="4709160"/>
            <a:ext cx="7589520" cy="548640"/>
          </a:xfrm>
          <a:prstGeom prst="roundRect">
            <a:avLst>
              <a:gd name="adj" fmla="val 6000"/>
            </a:avLst>
          </a:prstGeom>
          <a:solidFill>
            <a:srgbClr val="1F232F"/>
          </a:solidFill>
          <a:ln w="12700">
            <a:solidFill>
              <a:srgbClr val="2A2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B6BCCD"/>
                </a:solidFill>
                <a:latin typeface="Consolas"/>
              </a:rPr>
              <a:t>Tools · RAG · Memoria · Langfuse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E0A145"/>
                </a:solidFill>
                <a:latin typeface="Consolas"/>
              </a:rPr>
              <a:t>03 · ARQUITECTURA · DETALLE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320040" cy="31750"/>
          </a:xfrm>
          <a:prstGeom prst="rect">
            <a:avLst/>
          </a:prstGeom>
          <a:solidFill>
            <a:srgbClr val="E0A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quitectura-detal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77892"/>
            <a:ext cx="10545775" cy="341661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E0A145"/>
                </a:solidFill>
                <a:latin typeface="Consolas"/>
              </a:rPr>
              <a:t>04 · EL MOTOR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320040" cy="31750"/>
          </a:xfrm>
          <a:prstGeom prst="rect">
            <a:avLst/>
          </a:prstGeom>
          <a:solidFill>
            <a:srgbClr val="E0A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4577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EEF0F6"/>
                </a:solidFill>
                <a:latin typeface="Segoe UI"/>
              </a:rPr>
              <a:t>Sin frameworks: un mismo Harness reutilizado.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58521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900" b="1">
                <a:solidFill>
                  <a:srgbClr val="E0A145"/>
                </a:solidFill>
                <a:latin typeface="Segoe UI"/>
              </a:rPr>
              <a:t>▪  </a:t>
            </a:r>
            <a:r>
              <a:rPr sz="1900" b="0">
                <a:solidFill>
                  <a:srgbClr val="EEF0F6"/>
                </a:solidFill>
                <a:latin typeface="Segoe UI"/>
              </a:rPr>
              <a:t>El agente base es un loop: el LLM piensa, pide tools, ve los resultados y repite.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900" b="1">
                <a:solidFill>
                  <a:srgbClr val="E0A145"/>
                </a:solidFill>
                <a:latin typeface="Segoe UI"/>
              </a:rPr>
              <a:t>▪  </a:t>
            </a:r>
            <a:r>
              <a:rPr sz="1900" b="0">
                <a:solidFill>
                  <a:srgbClr val="EEF0F6"/>
                </a:solidFill>
                <a:latin typeface="Segoe UI"/>
              </a:rPr>
              <a:t>Cada subagente es ese mismo loop con un prompt propio y un </a:t>
            </a:r>
            <a:r>
              <a:rPr sz="1900" b="0">
                <a:solidFill>
                  <a:srgbClr val="EEF0F6"/>
                </a:solidFill>
                <a:latin typeface="Consolas"/>
              </a:rPr>
              <a:t>tool_map</a:t>
            </a:r>
            <a:r>
              <a:rPr sz="1900" b="0">
                <a:solidFill>
                  <a:srgbClr val="EEF0F6"/>
                </a:solidFill>
                <a:latin typeface="Segoe UI"/>
              </a:rPr>
              <a:t> restringido.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900" b="1">
                <a:solidFill>
                  <a:srgbClr val="E0A145"/>
                </a:solidFill>
                <a:latin typeface="Segoe UI"/>
              </a:rPr>
              <a:t>▪  </a:t>
            </a:r>
            <a:r>
              <a:rPr sz="1900" b="0">
                <a:solidFill>
                  <a:srgbClr val="EEF0F6"/>
                </a:solidFill>
                <a:latin typeface="Segoe UI"/>
              </a:rPr>
              <a:t>El rol lo da qué tools tiene; la seguridad, las políticas compartidas.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2286000"/>
            <a:ext cx="4236415" cy="3108960"/>
          </a:xfrm>
          <a:prstGeom prst="roundRect">
            <a:avLst>
              <a:gd name="adj" fmla="val 6000"/>
            </a:avLst>
          </a:prstGeom>
          <a:solidFill>
            <a:srgbClr val="1F232F"/>
          </a:solidFill>
          <a:ln w="12700">
            <a:solidFill>
              <a:srgbClr val="2A2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2514600"/>
            <a:ext cx="368777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E0A145"/>
                </a:solidFill>
                <a:latin typeface="Consolas"/>
              </a:rPr>
              <a:t>EL LOOP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EEF0F6"/>
                </a:solidFill>
                <a:latin typeface="Consolas"/>
              </a:rPr>
              <a:t>LLM piensa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6BCCD"/>
                </a:solidFill>
                <a:latin typeface="Consolas"/>
              </a:rPr>
              <a:t>  → ¿pide tools?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6BCCD"/>
                </a:solidFill>
                <a:latin typeface="Consolas"/>
              </a:rPr>
              <a:t>     → sí: ejecuta y observa ↺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6BCCD"/>
                </a:solidFill>
                <a:latin typeface="Consolas"/>
              </a:rPr>
              <a:t>     → no: respuesta final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E0A145"/>
                </a:solidFill>
                <a:latin typeface="Consolas"/>
              </a:rPr>
              <a:t>05 · SUBAGENTES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320040" cy="31750"/>
          </a:xfrm>
          <a:prstGeom prst="rect">
            <a:avLst/>
          </a:prstGeom>
          <a:solidFill>
            <a:srgbClr val="E0A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4577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EEF0F6"/>
                </a:solidFill>
                <a:latin typeface="Segoe UI"/>
              </a:rPr>
              <a:t>Cinco roles, cada uno con permisos acotados.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922524"/>
            <a:ext cx="10545775" cy="12700"/>
          </a:xfrm>
          <a:prstGeom prst="rect">
            <a:avLst/>
          </a:prstGeom>
          <a:solidFill>
            <a:srgbClr val="2A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21992"/>
            <a:ext cx="384048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>
                <a:solidFill>
                  <a:srgbClr val="EEF0F6"/>
                </a:solidFill>
                <a:latin typeface="Segoe UI"/>
              </a:rPr>
              <a:t>Explorer</a:t>
            </a:r>
          </a:p>
          <a:p>
            <a:r>
              <a:rPr sz="1200" b="0">
                <a:solidFill>
                  <a:srgbClr val="4FB6C6"/>
                </a:solidFill>
                <a:latin typeface="Consolas"/>
              </a:rPr>
              <a:t>solo lectura + memoria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276856"/>
            <a:ext cx="6522415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0">
                <a:solidFill>
                  <a:srgbClr val="B6BCCD"/>
                </a:solidFill>
                <a:latin typeface="Segoe UI"/>
              </a:rPr>
              <a:t>Entiende la estructura, dependencias y convenciones del repo.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708908"/>
            <a:ext cx="10545775" cy="12700"/>
          </a:xfrm>
          <a:prstGeom prst="rect">
            <a:avLst/>
          </a:prstGeom>
          <a:solidFill>
            <a:srgbClr val="2A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008376"/>
            <a:ext cx="384048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>
                <a:solidFill>
                  <a:srgbClr val="EEF0F6"/>
                </a:solidFill>
                <a:latin typeface="Segoe UI"/>
              </a:rPr>
              <a:t>Researcher</a:t>
            </a:r>
          </a:p>
          <a:p>
            <a:r>
              <a:rPr sz="1200" b="0">
                <a:solidFill>
                  <a:srgbClr val="4FB6C6"/>
                </a:solidFill>
                <a:latin typeface="Consolas"/>
              </a:rPr>
              <a:t>retrieve +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063240"/>
            <a:ext cx="6522415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0">
                <a:solidFill>
                  <a:srgbClr val="B6BCCD"/>
                </a:solidFill>
                <a:latin typeface="Segoe UI"/>
              </a:rPr>
              <a:t>Busca evidencia: RAG primero, web como fallback. Cita fuentes.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495292"/>
            <a:ext cx="10545775" cy="12700"/>
          </a:xfrm>
          <a:prstGeom prst="rect">
            <a:avLst/>
          </a:prstGeom>
          <a:solidFill>
            <a:srgbClr val="2A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794760"/>
            <a:ext cx="384048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>
                <a:solidFill>
                  <a:srgbClr val="EEF0F6"/>
                </a:solidFill>
                <a:latin typeface="Segoe UI"/>
              </a:rPr>
              <a:t>Implementer</a:t>
            </a:r>
          </a:p>
          <a:p>
            <a:r>
              <a:rPr sz="1200" b="0">
                <a:solidFill>
                  <a:srgbClr val="4FB6C6"/>
                </a:solidFill>
                <a:latin typeface="Consolas"/>
              </a:rPr>
              <a:t>escritura acotada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849624"/>
            <a:ext cx="6522415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0">
                <a:solidFill>
                  <a:srgbClr val="B6BCCD"/>
                </a:solidFill>
                <a:latin typeface="Segoe UI"/>
              </a:rPr>
              <a:t>Redacta el reporte final en un único archivo permitido.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281676"/>
            <a:ext cx="10545775" cy="12700"/>
          </a:xfrm>
          <a:prstGeom prst="rect">
            <a:avLst/>
          </a:prstGeom>
          <a:solidFill>
            <a:srgbClr val="2A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581144"/>
            <a:ext cx="384048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>
                <a:solidFill>
                  <a:srgbClr val="EEF0F6"/>
                </a:solidFill>
                <a:latin typeface="Segoe UI"/>
              </a:rPr>
              <a:t>Tester</a:t>
            </a:r>
          </a:p>
          <a:p>
            <a:r>
              <a:rPr sz="1200" b="0">
                <a:solidFill>
                  <a:srgbClr val="4FB6C6"/>
                </a:solidFill>
                <a:latin typeface="Consolas"/>
              </a:rPr>
              <a:t>comando por allowlist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4636008"/>
            <a:ext cx="6522415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0">
                <a:solidFill>
                  <a:srgbClr val="B6BCCD"/>
                </a:solidFill>
                <a:latin typeface="Segoe UI"/>
              </a:rPr>
              <a:t>Valida con un check real, sin ser una shell general.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068060"/>
            <a:ext cx="10545775" cy="12700"/>
          </a:xfrm>
          <a:prstGeom prst="rect">
            <a:avLst/>
          </a:prstGeom>
          <a:solidFill>
            <a:srgbClr val="2A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367528"/>
            <a:ext cx="384048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>
                <a:solidFill>
                  <a:srgbClr val="EEF0F6"/>
                </a:solidFill>
                <a:latin typeface="Segoe UI"/>
              </a:rPr>
              <a:t>Reviewer</a:t>
            </a:r>
          </a:p>
          <a:p>
            <a:r>
              <a:rPr sz="1200" b="0">
                <a:solidFill>
                  <a:srgbClr val="4FB6C6"/>
                </a:solidFill>
                <a:latin typeface="Consolas"/>
              </a:rPr>
              <a:t>solo lectura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5422392"/>
            <a:ext cx="6522415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0">
                <a:solidFill>
                  <a:srgbClr val="B6BCCD"/>
                </a:solidFill>
                <a:latin typeface="Segoe UI"/>
              </a:rPr>
              <a:t>Revisa el reporte contra el pedido y deja observaciones.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E0A145"/>
                </a:solidFill>
                <a:latin typeface="Consolas"/>
              </a:rPr>
              <a:t>06 · TOOLS IMPLEMENTADAS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320040" cy="31750"/>
          </a:xfrm>
          <a:prstGeom prst="rect">
            <a:avLst/>
          </a:prstGeom>
          <a:solidFill>
            <a:srgbClr val="E0A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4577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EEF0F6"/>
                </a:solidFill>
                <a:latin typeface="Segoe UI"/>
              </a:rPr>
              <a:t>Capacidades concretas del agente.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1508760" cy="50292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A2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EEF0F6"/>
                </a:solidFill>
                <a:latin typeface="Consolas"/>
              </a:rPr>
              <a:t>list_files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96312" y="2194560"/>
            <a:ext cx="1389888" cy="50292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A2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EEF0F6"/>
                </a:solidFill>
                <a:latin typeface="Consolas"/>
              </a:rPr>
              <a:t>read_file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50792" y="2194560"/>
            <a:ext cx="1508760" cy="50292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A2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EEF0F6"/>
                </a:solidFill>
                <a:latin typeface="Consolas"/>
              </a:rPr>
              <a:t>write_file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24144" y="2194560"/>
            <a:ext cx="2103120" cy="50292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A2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EEF0F6"/>
                </a:solidFill>
                <a:latin typeface="Consolas"/>
              </a:rPr>
              <a:t>execute_command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1856" y="2194560"/>
            <a:ext cx="1508760" cy="50292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A2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EEF0F6"/>
                </a:solidFill>
                <a:latin typeface="Consolas"/>
              </a:rPr>
              <a:t>web_search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80360"/>
            <a:ext cx="1984248" cy="50292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A2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EEF0F6"/>
                </a:solidFill>
                <a:latin typeface="Consolas"/>
              </a:rPr>
              <a:t>retrieve · RAG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2880360"/>
            <a:ext cx="1627632" cy="50292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A2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EEF0F6"/>
                </a:solidFill>
                <a:latin typeface="Consolas"/>
              </a:rPr>
              <a:t>read_memory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64024" y="2880360"/>
            <a:ext cx="1271016" cy="50292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A2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EEF0F6"/>
                </a:solidFill>
                <a:latin typeface="Consolas"/>
              </a:rPr>
              <a:t>remember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23360"/>
            <a:ext cx="1054577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800" b="0">
                <a:solidFill>
                  <a:srgbClr val="B6BCCD"/>
                </a:solidFill>
                <a:latin typeface="Segoe UI"/>
              </a:rPr>
              <a:t>Ocho herramientas locales cubren lectura, escritura, ejecución de comandos, búsqueda web, RAG y memoria del proyecto.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E0A145"/>
                </a:solidFill>
                <a:latin typeface="Consolas"/>
              </a:rPr>
              <a:t>07 · POLÍTICAS DE SEGURIDAD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320040" cy="31750"/>
          </a:xfrm>
          <a:prstGeom prst="rect">
            <a:avLst/>
          </a:prstGeom>
          <a:solidFill>
            <a:srgbClr val="E0A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4577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EEF0F6"/>
                </a:solidFill>
                <a:latin typeface="Segoe UI"/>
              </a:rPr>
              <a:t>Un veto por configuración antes de cada tool.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5943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E0A145"/>
                </a:solidFill>
                <a:latin typeface="Segoe UI"/>
              </a:rPr>
              <a:t>▪  </a:t>
            </a:r>
            <a:r>
              <a:rPr sz="1800" b="0">
                <a:solidFill>
                  <a:srgbClr val="EEF0F6"/>
                </a:solidFill>
                <a:latin typeface="Segoe UI"/>
              </a:rPr>
              <a:t>Bloquea </a:t>
            </a:r>
            <a:r>
              <a:rPr sz="1800" b="1">
                <a:solidFill>
                  <a:srgbClr val="EEF0F6"/>
                </a:solidFill>
                <a:latin typeface="Segoe UI"/>
              </a:rPr>
              <a:t>lectura</a:t>
            </a:r>
            <a:r>
              <a:rPr sz="1800" b="0">
                <a:solidFill>
                  <a:srgbClr val="EEF0F6"/>
                </a:solidFill>
                <a:latin typeface="Segoe UI"/>
              </a:rPr>
              <a:t> de secretos (</a:t>
            </a:r>
            <a:r>
              <a:rPr sz="1800" b="0">
                <a:solidFill>
                  <a:srgbClr val="EEF0F6"/>
                </a:solidFill>
                <a:latin typeface="Consolas"/>
              </a:rPr>
              <a:t>.env</a:t>
            </a:r>
            <a:r>
              <a:rPr sz="1800" b="0">
                <a:solidFill>
                  <a:srgbClr val="EEF0F6"/>
                </a:solidFill>
                <a:latin typeface="Segoe UI"/>
              </a:rPr>
              <a:t>).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E0A145"/>
                </a:solidFill>
                <a:latin typeface="Segoe UI"/>
              </a:rPr>
              <a:t>▪  </a:t>
            </a:r>
            <a:r>
              <a:rPr sz="1800" b="0">
                <a:solidFill>
                  <a:srgbClr val="EEF0F6"/>
                </a:solidFill>
                <a:latin typeface="Segoe UI"/>
              </a:rPr>
              <a:t>Bloquea </a:t>
            </a:r>
            <a:r>
              <a:rPr sz="1800" b="1">
                <a:solidFill>
                  <a:srgbClr val="EEF0F6"/>
                </a:solidFill>
                <a:latin typeface="Segoe UI"/>
              </a:rPr>
              <a:t>escritura</a:t>
            </a:r>
            <a:r>
              <a:rPr sz="1800" b="0">
                <a:solidFill>
                  <a:srgbClr val="EEF0F6"/>
                </a:solidFill>
                <a:latin typeface="Segoe UI"/>
              </a:rPr>
              <a:t> en rutas sensibles (</a:t>
            </a:r>
            <a:r>
              <a:rPr sz="1800" b="0">
                <a:solidFill>
                  <a:srgbClr val="EEF0F6"/>
                </a:solidFill>
                <a:latin typeface="Consolas"/>
              </a:rPr>
              <a:t>.git/</a:t>
            </a:r>
            <a:r>
              <a:rPr sz="1800" b="0">
                <a:solidFill>
                  <a:srgbClr val="EEF0F6"/>
                </a:solidFill>
                <a:latin typeface="Segoe UI"/>
              </a:rPr>
              <a:t>).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E0A145"/>
                </a:solidFill>
                <a:latin typeface="Segoe UI"/>
              </a:rPr>
              <a:t>▪  </a:t>
            </a:r>
            <a:r>
              <a:rPr sz="1800" b="0">
                <a:solidFill>
                  <a:srgbClr val="EEF0F6"/>
                </a:solidFill>
                <a:latin typeface="Segoe UI"/>
              </a:rPr>
              <a:t>Bloquea </a:t>
            </a:r>
            <a:r>
              <a:rPr sz="1800" b="1">
                <a:solidFill>
                  <a:srgbClr val="EEF0F6"/>
                </a:solidFill>
                <a:latin typeface="Segoe UI"/>
              </a:rPr>
              <a:t>comandos</a:t>
            </a:r>
            <a:r>
              <a:rPr sz="1800" b="0">
                <a:solidFill>
                  <a:srgbClr val="EEF0F6"/>
                </a:solidFill>
                <a:latin typeface="Segoe UI"/>
              </a:rPr>
              <a:t> peligrosos (</a:t>
            </a:r>
            <a:r>
              <a:rPr sz="1800" b="0">
                <a:solidFill>
                  <a:srgbClr val="EEF0F6"/>
                </a:solidFill>
                <a:latin typeface="Consolas"/>
              </a:rPr>
              <a:t>rm -rf</a:t>
            </a:r>
            <a:r>
              <a:rPr sz="1800" b="0">
                <a:solidFill>
                  <a:srgbClr val="EEF0F6"/>
                </a:solidFill>
                <a:latin typeface="Segoe UI"/>
              </a:rPr>
              <a:t>, </a:t>
            </a:r>
            <a:r>
              <a:rPr sz="1800" b="0">
                <a:solidFill>
                  <a:srgbClr val="EEF0F6"/>
                </a:solidFill>
                <a:latin typeface="Consolas"/>
              </a:rPr>
              <a:t>sudo</a:t>
            </a:r>
            <a:r>
              <a:rPr sz="1800" b="0">
                <a:solidFill>
                  <a:srgbClr val="EEF0F6"/>
                </a:solidFill>
                <a:latin typeface="Segoe UI"/>
              </a:rPr>
              <a:t>).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E0A145"/>
                </a:solidFill>
                <a:latin typeface="Segoe UI"/>
              </a:rPr>
              <a:t>▪  </a:t>
            </a:r>
            <a:r>
              <a:rPr sz="1800" b="0">
                <a:solidFill>
                  <a:srgbClr val="EEF0F6"/>
                </a:solidFill>
                <a:latin typeface="Segoe UI"/>
              </a:rPr>
              <a:t>Pide </a:t>
            </a:r>
            <a:r>
              <a:rPr sz="1800" b="1">
                <a:solidFill>
                  <a:srgbClr val="EEF0F6"/>
                </a:solidFill>
                <a:latin typeface="Segoe UI"/>
              </a:rPr>
              <a:t>aprobación humana</a:t>
            </a:r>
            <a:r>
              <a:rPr sz="1800" b="0">
                <a:solidFill>
                  <a:srgbClr val="EEF0F6"/>
                </a:solidFill>
                <a:latin typeface="Segoe UI"/>
              </a:rPr>
              <a:t> para tools riesgosas (bajo supervisión).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2286000"/>
            <a:ext cx="4144975" cy="3383280"/>
          </a:xfrm>
          <a:prstGeom prst="roundRect">
            <a:avLst>
              <a:gd name="adj" fmla="val 6000"/>
            </a:avLst>
          </a:prstGeom>
          <a:solidFill>
            <a:srgbClr val="1F232F"/>
          </a:solidFill>
          <a:ln w="12700">
            <a:solidFill>
              <a:srgbClr val="2A2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0" y="2487168"/>
            <a:ext cx="3596335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E0A145"/>
                </a:solidFill>
                <a:latin typeface="Consolas"/>
              </a:rPr>
              <a:t>agent.config.yaml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EEF0F6"/>
                </a:solidFill>
                <a:latin typeface="Consolas"/>
              </a:rPr>
              <a:t>write: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B6BCCD"/>
                </a:solidFill>
                <a:latin typeface="Consolas"/>
              </a:rPr>
              <a:t>  allow: []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EEF0F6"/>
                </a:solidFill>
                <a:latin typeface="Consolas"/>
              </a:rPr>
              <a:t>  deny: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E08A5C"/>
                </a:solidFill>
                <a:latin typeface="Consolas"/>
              </a:rPr>
              <a:t>    - ".env"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E08A5C"/>
                </a:solidFill>
                <a:latin typeface="Consolas"/>
              </a:rPr>
              <a:t>    - ".git/**"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EEF0F6"/>
                </a:solidFill>
                <a:latin typeface="Consolas"/>
              </a:rPr>
              <a:t>commands: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E08A5C"/>
                </a:solidFill>
                <a:latin typeface="Consolas"/>
              </a:rPr>
              <a:t>    - "*rm -rf*"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E08A5C"/>
                </a:solidFill>
                <a:latin typeface="Consolas"/>
              </a:rPr>
              <a:t>    - "*sudo*"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sz="1200" b="0">
                <a:solidFill>
                  <a:srgbClr val="B6BCCD"/>
                </a:solidFill>
                <a:latin typeface="Segoe UI"/>
              </a:rPr>
              <a:t>deny tiene prioridad. Todo Harness (orquestador y subagentes) comparte el mismo set de políticas.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E0A145"/>
                </a:solidFill>
                <a:latin typeface="Consolas"/>
              </a:rPr>
              <a:t>08 · RAG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320040" cy="31750"/>
          </a:xfrm>
          <a:prstGeom prst="rect">
            <a:avLst/>
          </a:prstGeom>
          <a:solidFill>
            <a:srgbClr val="E0A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4577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EEF0F6"/>
                </a:solidFill>
                <a:latin typeface="Segoe UI"/>
              </a:rPr>
              <a:t>Evidencia recuperable con Chroma + embeddings.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59436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 b="1">
                <a:solidFill>
                  <a:srgbClr val="E0A145"/>
                </a:solidFill>
                <a:latin typeface="Segoe UI"/>
              </a:rPr>
              <a:t>▪  </a:t>
            </a:r>
            <a:r>
              <a:rPr sz="1800" b="0">
                <a:solidFill>
                  <a:srgbClr val="EEF0F6"/>
                </a:solidFill>
                <a:latin typeface="Segoe UI"/>
              </a:rPr>
              <a:t>Índice sobre docs del ecosistema Python (chunking + </a:t>
            </a:r>
            <a:r>
              <a:rPr sz="1800" b="0">
                <a:solidFill>
                  <a:srgbClr val="EEF0F6"/>
                </a:solidFill>
                <a:latin typeface="Consolas"/>
              </a:rPr>
              <a:t>text-embedding-3-small</a:t>
            </a:r>
            <a:r>
              <a:rPr sz="1800" b="0">
                <a:solidFill>
                  <a:srgbClr val="EEF0F6"/>
                </a:solidFill>
                <a:latin typeface="Segoe UI"/>
              </a:rPr>
              <a:t>).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 b="1">
                <a:solidFill>
                  <a:srgbClr val="E0A145"/>
                </a:solidFill>
                <a:latin typeface="Segoe UI"/>
              </a:rPr>
              <a:t>▪  </a:t>
            </a:r>
            <a:r>
              <a:rPr sz="1800" b="0">
                <a:solidFill>
                  <a:srgbClr val="EEF0F6"/>
                </a:solidFill>
                <a:latin typeface="Segoe UI"/>
              </a:rPr>
              <a:t>El Researcher consulta </a:t>
            </a:r>
            <a:r>
              <a:rPr sz="1800" b="0">
                <a:solidFill>
                  <a:srgbClr val="EEF0F6"/>
                </a:solidFill>
                <a:latin typeface="Consolas"/>
              </a:rPr>
              <a:t>retrieve</a:t>
            </a:r>
            <a:r>
              <a:rPr sz="1800" b="0">
                <a:solidFill>
                  <a:srgbClr val="EEF0F6"/>
                </a:solidFill>
                <a:latin typeface="Segoe UI"/>
              </a:rPr>
              <a:t> primero; usa web solo si no alcanza.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 b="1">
                <a:solidFill>
                  <a:srgbClr val="E0A145"/>
                </a:solidFill>
                <a:latin typeface="Segoe UI"/>
              </a:rPr>
              <a:t>▪  </a:t>
            </a:r>
            <a:r>
              <a:rPr sz="1800" b="0">
                <a:solidFill>
                  <a:srgbClr val="EEF0F6"/>
                </a:solidFill>
                <a:latin typeface="Segoe UI"/>
              </a:rPr>
              <a:t>Cada fragmento se guarda con su </a:t>
            </a:r>
            <a:r>
              <a:rPr sz="1800" b="1">
                <a:solidFill>
                  <a:srgbClr val="EEF0F6"/>
                </a:solidFill>
                <a:latin typeface="Segoe UI"/>
              </a:rPr>
              <a:t>fuente</a:t>
            </a:r>
            <a:r>
              <a:rPr sz="1800" b="0">
                <a:solidFill>
                  <a:srgbClr val="EEF0F6"/>
                </a:solidFill>
                <a:latin typeface="Segoe UI"/>
              </a:rPr>
              <a:t>; se distingue el origen.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2286000"/>
            <a:ext cx="4144975" cy="2743200"/>
          </a:xfrm>
          <a:prstGeom prst="roundRect">
            <a:avLst>
              <a:gd name="adj" fmla="val 6000"/>
            </a:avLst>
          </a:prstGeom>
          <a:solidFill>
            <a:srgbClr val="1F232F"/>
          </a:solidFill>
          <a:ln w="12700">
            <a:solidFill>
              <a:srgbClr val="2A2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0" y="2487168"/>
            <a:ext cx="359633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E0A145"/>
                </a:solidFill>
                <a:latin typeface="Consolas"/>
              </a:rPr>
              <a:t>FUENTES DIFERENCIADAS</a:t>
            </a:r>
          </a:p>
          <a:p>
            <a:pPr>
              <a:spcBef>
                <a:spcPts val="700"/>
              </a:spcBef>
            </a:pPr>
            <a:r>
              <a:rPr sz="1400" b="0">
                <a:solidFill>
                  <a:srgbClr val="B6BCCD"/>
                </a:solidFill>
                <a:latin typeface="Consolas"/>
              </a:rPr>
              <a:t>origen: </a:t>
            </a:r>
            <a:r>
              <a:rPr sz="1400" b="0">
                <a:solidFill>
                  <a:srgbClr val="5CBD8A"/>
                </a:solidFill>
                <a:latin typeface="Consolas"/>
              </a:rPr>
              <a:t>rag   → guía Python</a:t>
            </a:r>
          </a:p>
          <a:p>
            <a:pPr>
              <a:spcBef>
                <a:spcPts val="700"/>
              </a:spcBef>
            </a:pPr>
            <a:r>
              <a:rPr sz="1400" b="0">
                <a:solidFill>
                  <a:srgbClr val="B6BCCD"/>
                </a:solidFill>
                <a:latin typeface="Consolas"/>
              </a:rPr>
              <a:t>origen: </a:t>
            </a:r>
            <a:r>
              <a:rPr sz="1400" b="0">
                <a:solidFill>
                  <a:srgbClr val="5CBD8A"/>
                </a:solidFill>
                <a:latin typeface="Consolas"/>
              </a:rPr>
              <a:t>web   → packaging.python.org</a:t>
            </a:r>
          </a:p>
          <a:p>
            <a:pPr>
              <a:spcBef>
                <a:spcPts val="700"/>
              </a:spcBef>
            </a:pPr>
            <a:r>
              <a:rPr sz="1400" b="0">
                <a:solidFill>
                  <a:srgbClr val="B6BCCD"/>
                </a:solidFill>
                <a:latin typeface="Consolas"/>
              </a:rPr>
              <a:t>origen: </a:t>
            </a:r>
            <a:r>
              <a:rPr sz="1400" b="0">
                <a:solidFill>
                  <a:srgbClr val="5CBD8A"/>
                </a:solidFill>
                <a:latin typeface="Consolas"/>
              </a:rPr>
              <a:t>repo  → archivos leídos</a:t>
            </a:r>
          </a:p>
          <a:p>
            <a:pPr>
              <a:spcBef>
                <a:spcPts val="700"/>
              </a:spcBef>
            </a:pPr>
            <a:r>
              <a:rPr sz="1400" b="0">
                <a:solidFill>
                  <a:srgbClr val="B6BCCD"/>
                </a:solidFill>
                <a:latin typeface="Consolas"/>
              </a:rPr>
              <a:t>origen: </a:t>
            </a:r>
            <a:r>
              <a:rPr sz="1400" b="0">
                <a:solidFill>
                  <a:srgbClr val="5CBD8A"/>
                </a:solidFill>
                <a:latin typeface="Consolas"/>
              </a:rPr>
              <a:t>inferencia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577840"/>
            <a:ext cx="105457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>
                <a:solidFill>
                  <a:srgbClr val="B6BCCD"/>
                </a:solidFill>
                <a:latin typeface="Segoe UI"/>
              </a:rPr>
              <a:t>Si no hay evidencia, el sistema lo declara en vez de inventarla.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E0A145"/>
                </a:solidFill>
                <a:latin typeface="Consolas"/>
              </a:rPr>
              <a:t>09 · MEMORIA PERSISTENTE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320040" cy="31750"/>
          </a:xfrm>
          <a:prstGeom prst="rect">
            <a:avLst/>
          </a:prstGeom>
          <a:solidFill>
            <a:srgbClr val="E0A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4577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EEF0F6"/>
                </a:solidFill>
                <a:latin typeface="Segoe UI"/>
              </a:rPr>
              <a:t>El proyecto acumula conocimiento entre corridas.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5943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 b="1">
                <a:solidFill>
                  <a:srgbClr val="E0A145"/>
                </a:solidFill>
                <a:latin typeface="Segoe UI"/>
              </a:rPr>
              <a:t>▪  </a:t>
            </a:r>
            <a:r>
              <a:rPr sz="1800" b="0">
                <a:solidFill>
                  <a:srgbClr val="EEF0F6"/>
                </a:solidFill>
                <a:latin typeface="Segoe UI"/>
              </a:rPr>
              <a:t>Al empezar, el Explorer llama a </a:t>
            </a:r>
            <a:r>
              <a:rPr sz="1800" b="0">
                <a:solidFill>
                  <a:srgbClr val="EEF0F6"/>
                </a:solidFill>
                <a:latin typeface="Consolas"/>
              </a:rPr>
              <a:t>read_memory</a:t>
            </a:r>
            <a:r>
              <a:rPr sz="1800" b="0">
                <a:solidFill>
                  <a:srgbClr val="EEF0F6"/>
                </a:solidFill>
                <a:latin typeface="Segoe UI"/>
              </a:rPr>
              <a:t>; cuando confirma algo estable, lo guarda con </a:t>
            </a:r>
            <a:r>
              <a:rPr sz="1800" b="0">
                <a:solidFill>
                  <a:srgbClr val="EEF0F6"/>
                </a:solidFill>
                <a:latin typeface="Consolas"/>
              </a:rPr>
              <a:t>remember</a:t>
            </a:r>
            <a:r>
              <a:rPr sz="1800" b="0">
                <a:solidFill>
                  <a:srgbClr val="EEF0F6"/>
                </a:solidFill>
                <a:latin typeface="Segoe UI"/>
              </a:rPr>
              <a:t>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 b="1">
                <a:solidFill>
                  <a:srgbClr val="E0A145"/>
                </a:solidFill>
                <a:latin typeface="Segoe UI"/>
              </a:rPr>
              <a:t>▪  </a:t>
            </a:r>
            <a:r>
              <a:rPr sz="1800" b="0">
                <a:solidFill>
                  <a:srgbClr val="EEF0F6"/>
                </a:solidFill>
                <a:latin typeface="Segoe UI"/>
              </a:rPr>
              <a:t>Persiste en </a:t>
            </a:r>
            <a:r>
              <a:rPr sz="1800" b="0">
                <a:solidFill>
                  <a:srgbClr val="EEF0F6"/>
                </a:solidFill>
                <a:latin typeface="Consolas"/>
              </a:rPr>
              <a:t>.agent_memory.json</a:t>
            </a:r>
            <a:r>
              <a:rPr sz="1800" b="0">
                <a:solidFill>
                  <a:srgbClr val="EEF0F6"/>
                </a:solidFill>
                <a:latin typeface="Segoe UI"/>
              </a:rPr>
              <a:t>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 b="1">
                <a:solidFill>
                  <a:srgbClr val="E0A145"/>
                </a:solidFill>
                <a:latin typeface="Segoe UI"/>
              </a:rPr>
              <a:t>▪  </a:t>
            </a:r>
            <a:r>
              <a:rPr sz="1800" b="0">
                <a:solidFill>
                  <a:srgbClr val="EEF0F6"/>
                </a:solidFill>
                <a:latin typeface="Segoe UI"/>
              </a:rPr>
              <a:t>Lo aprendido en una corrida está disponible en la siguiente, sin re-descubrirlo.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2286000"/>
            <a:ext cx="4144975" cy="2743200"/>
          </a:xfrm>
          <a:prstGeom prst="roundRect">
            <a:avLst>
              <a:gd name="adj" fmla="val 6000"/>
            </a:avLst>
          </a:prstGeom>
          <a:solidFill>
            <a:srgbClr val="1F232F"/>
          </a:solidFill>
          <a:ln w="12700">
            <a:solidFill>
              <a:srgbClr val="2A2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0" y="2487168"/>
            <a:ext cx="359633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E0A145"/>
                </a:solidFill>
                <a:latin typeface="Consolas"/>
              </a:rPr>
              <a:t>.agent_memory.json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EEF0F6"/>
                </a:solidFill>
                <a:latin typeface="Consolas"/>
              </a:rPr>
              <a:t>{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5CBD8A"/>
                </a:solidFill>
                <a:latin typeface="Consolas"/>
              </a:rPr>
              <a:t>  "arquitectura": [...],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5CBD8A"/>
                </a:solidFill>
                <a:latin typeface="Consolas"/>
              </a:rPr>
              <a:t>  "dependencias": [...],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5CBD8A"/>
                </a:solidFill>
                <a:latin typeface="Consolas"/>
              </a:rPr>
              <a:t>  "comandos": [...]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EEF0F6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E0A145"/>
                </a:solidFill>
                <a:latin typeface="Consolas"/>
              </a:rPr>
              <a:t>10 · OBSERVABILIDAD CON LANGFUSE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320040" cy="31750"/>
          </a:xfrm>
          <a:prstGeom prst="rect">
            <a:avLst/>
          </a:prstGeom>
          <a:solidFill>
            <a:srgbClr val="E0A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4577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EEF0F6"/>
                </a:solidFill>
                <a:latin typeface="Segoe UI"/>
              </a:rPr>
              <a:t>Cada turno del LLM y cada tool queda trazado.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51206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700" b="1">
                <a:solidFill>
                  <a:srgbClr val="E0A145"/>
                </a:solidFill>
                <a:latin typeface="Segoe UI"/>
              </a:rPr>
              <a:t>▪  </a:t>
            </a:r>
            <a:r>
              <a:rPr sz="1700" b="0">
                <a:solidFill>
                  <a:srgbClr val="EEF0F6"/>
                </a:solidFill>
                <a:latin typeface="Segoe UI"/>
              </a:rPr>
              <a:t>Traza raíz por corrida (</a:t>
            </a:r>
            <a:r>
              <a:rPr sz="1700" b="0">
                <a:solidFill>
                  <a:srgbClr val="EEF0F6"/>
                </a:solidFill>
                <a:latin typeface="Consolas"/>
              </a:rPr>
              <a:t>analyze-repo</a:t>
            </a:r>
            <a:r>
              <a:rPr sz="1700" b="0">
                <a:solidFill>
                  <a:srgbClr val="EEF0F6"/>
                </a:solidFill>
                <a:latin typeface="Segoe UI"/>
              </a:rPr>
              <a:t>).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700" b="1">
                <a:solidFill>
                  <a:srgbClr val="E0A145"/>
                </a:solidFill>
                <a:latin typeface="Segoe UI"/>
              </a:rPr>
              <a:t>▪  </a:t>
            </a:r>
            <a:r>
              <a:rPr sz="1700" b="0">
                <a:solidFill>
                  <a:srgbClr val="EEF0F6"/>
                </a:solidFill>
                <a:latin typeface="Segoe UI"/>
              </a:rPr>
              <a:t>Generaciones de OpenAI y spans de tools </a:t>
            </a:r>
            <a:r>
              <a:rPr sz="1700" b="1">
                <a:solidFill>
                  <a:srgbClr val="EEF0F6"/>
                </a:solidFill>
                <a:latin typeface="Segoe UI"/>
              </a:rPr>
              <a:t>anidados</a:t>
            </a:r>
            <a:r>
              <a:rPr sz="1700" b="0">
                <a:solidFill>
                  <a:srgbClr val="EEF0F6"/>
                </a:solidFill>
                <a:latin typeface="Segoe UI"/>
              </a:rPr>
              <a:t>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700" b="1">
                <a:solidFill>
                  <a:srgbClr val="E0A145"/>
                </a:solidFill>
                <a:latin typeface="Segoe UI"/>
              </a:rPr>
              <a:t>▪  </a:t>
            </a:r>
            <a:r>
              <a:rPr sz="1700" b="0">
                <a:solidFill>
                  <a:srgbClr val="EEF0F6"/>
                </a:solidFill>
                <a:latin typeface="Segoe UI"/>
              </a:rPr>
              <a:t>Prompts, tokens, costo, latencia y errores.</a:t>
            </a:r>
          </a:p>
        </p:txBody>
      </p:sp>
      <p:pic>
        <p:nvPicPr>
          <p:cNvPr id="7" name="Picture 6" descr="trace-graph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86000"/>
            <a:ext cx="4967935" cy="19510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4328484"/>
            <a:ext cx="49679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>
                <a:solidFill>
                  <a:srgbClr val="808799"/>
                </a:solidFill>
                <a:latin typeface="Consolas"/>
              </a:rPr>
              <a:t>Traza real de una corrida en Langfuse.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ace-graph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857"/>
            <a:ext cx="12191695" cy="647628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E0A145"/>
                </a:solidFill>
                <a:latin typeface="Consolas"/>
              </a:rPr>
              <a:t>11 · PRUEBAS · PYPA/SAMPLEPROJECT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320040" cy="31750"/>
          </a:xfrm>
          <a:prstGeom prst="rect">
            <a:avLst/>
          </a:prstGeom>
          <a:solidFill>
            <a:srgbClr val="E0A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4577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EEF0F6"/>
                </a:solidFill>
                <a:latin typeface="Segoe UI"/>
              </a:rPr>
              <a:t>Dos tareas, dos capacidades demostradas.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5044287" cy="274320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A2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68880"/>
            <a:ext cx="4404207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E0A145"/>
                </a:solidFill>
                <a:latin typeface="Consolas"/>
              </a:rPr>
              <a:t>PRUEBA 1 · RAG</a:t>
            </a:r>
          </a:p>
          <a:p>
            <a:pPr>
              <a:spcBef>
                <a:spcPts val="800"/>
              </a:spcBef>
            </a:pPr>
            <a:r>
              <a:rPr sz="2100" b="1">
                <a:solidFill>
                  <a:srgbClr val="EEF0F6"/>
                </a:solidFill>
                <a:latin typeface="Segoe UI"/>
              </a:rPr>
              <a:t>Recuperar y citar fuentes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500" b="0">
                <a:solidFill>
                  <a:srgbClr val="B6BCCD"/>
                </a:solidFill>
                <a:latin typeface="Segoe UI"/>
              </a:rPr>
              <a:t>El Researcher recupera fragmentos del índice con su distancia y cae a la web cuando no alcanza. Las fuentes quedan en el reporte diferenciadas por origen (rag / web).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2194560"/>
            <a:ext cx="5044287" cy="274320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A2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4487" y="2468880"/>
            <a:ext cx="4404207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E0A145"/>
                </a:solidFill>
                <a:latin typeface="Consolas"/>
              </a:rPr>
              <a:t>PRUEBA 2 · MEMORIA</a:t>
            </a:r>
          </a:p>
          <a:p>
            <a:pPr>
              <a:spcBef>
                <a:spcPts val="800"/>
              </a:spcBef>
            </a:pPr>
            <a:r>
              <a:rPr sz="2100" b="1">
                <a:solidFill>
                  <a:srgbClr val="EEF0F6"/>
                </a:solidFill>
                <a:latin typeface="Segoe UI"/>
              </a:rPr>
              <a:t>Recordar entre corridas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500" b="0">
                <a:solidFill>
                  <a:srgbClr val="B6BCCD"/>
                </a:solidFill>
                <a:latin typeface="Segoe UI"/>
              </a:rPr>
              <a:t>Una corrida guarda arquitectura y dependencias con remember; la siguiente arranca leyéndolas con read_memory (ya no vacía) en vez de re-descubrirlas.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303520"/>
            <a:ext cx="105457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B6BCCD"/>
                </a:solidFill>
                <a:latin typeface="Segoe UI"/>
              </a:rPr>
              <a:t>Ambas corridas quedaron registradas en Langfuse como evidencia de observabilidad.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E0A145"/>
                </a:solidFill>
                <a:latin typeface="Consolas"/>
              </a:rPr>
              <a:t>12 · RESULTADOS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320040" cy="31750"/>
          </a:xfrm>
          <a:prstGeom prst="rect">
            <a:avLst/>
          </a:prstGeom>
          <a:solidFill>
            <a:srgbClr val="E0A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4577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EEF0F6"/>
                </a:solidFill>
                <a:latin typeface="Segoe UI"/>
              </a:rPr>
              <a:t>El flujo completa el ciclo, de forma verificable.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5090007" cy="96012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A2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95728"/>
            <a:ext cx="454136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5CBD8A"/>
                </a:solidFill>
                <a:latin typeface="Segoe UI"/>
              </a:rPr>
              <a:t>✓  </a:t>
            </a:r>
            <a:r>
              <a:rPr sz="1500" b="0">
                <a:solidFill>
                  <a:srgbClr val="EEF0F6"/>
                </a:solidFill>
                <a:latin typeface="Segoe UI"/>
              </a:rPr>
              <a:t>Pipeline completo: Explorer → Researcher → Implementer → Tester → Reviewer.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2286000"/>
            <a:ext cx="5090007" cy="96012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A2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3047" y="2395728"/>
            <a:ext cx="454136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5CBD8A"/>
                </a:solidFill>
                <a:latin typeface="Segoe UI"/>
              </a:rPr>
              <a:t>✓  </a:t>
            </a:r>
            <a:r>
              <a:rPr sz="1500" b="0">
                <a:solidFill>
                  <a:srgbClr val="EEF0F6"/>
                </a:solidFill>
                <a:latin typeface="Segoe UI"/>
              </a:rPr>
              <a:t>Fuentes diferenciadas por origen en el reporte final.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429000"/>
            <a:ext cx="5090007" cy="96012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A2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38728"/>
            <a:ext cx="454136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5CBD8A"/>
                </a:solidFill>
                <a:latin typeface="Segoe UI"/>
              </a:rPr>
              <a:t>✓  </a:t>
            </a:r>
            <a:r>
              <a:rPr sz="1500" b="0">
                <a:solidFill>
                  <a:srgbClr val="EEF0F6"/>
                </a:solidFill>
                <a:latin typeface="Segoe UI"/>
              </a:rPr>
              <a:t>Memoria persistida y reutilizada entre corridas.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3429000"/>
            <a:ext cx="5090007" cy="96012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A2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3538728"/>
            <a:ext cx="454136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5CBD8A"/>
                </a:solidFill>
                <a:latin typeface="Segoe UI"/>
              </a:rPr>
              <a:t>✓  </a:t>
            </a:r>
            <a:r>
              <a:rPr sz="1500" b="0">
                <a:solidFill>
                  <a:srgbClr val="EEF0F6"/>
                </a:solidFill>
                <a:latin typeface="Segoe UI"/>
              </a:rPr>
              <a:t>Tester corre su check sin modificar archivos indebidos.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572000"/>
            <a:ext cx="5090007" cy="96012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A2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81728"/>
            <a:ext cx="454136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5CBD8A"/>
                </a:solidFill>
                <a:latin typeface="Segoe UI"/>
              </a:rPr>
              <a:t>✓  </a:t>
            </a:r>
            <a:r>
              <a:rPr sz="1500" b="0">
                <a:solidFill>
                  <a:srgbClr val="EEF0F6"/>
                </a:solidFill>
                <a:latin typeface="Segoe UI"/>
              </a:rPr>
              <a:t>Falta de evidencia declarada explícitamente cuando corresponde.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4572000"/>
            <a:ext cx="5090007" cy="96012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12700">
            <a:solidFill>
              <a:srgbClr val="2A2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047" y="4681728"/>
            <a:ext cx="454136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5CBD8A"/>
                </a:solidFill>
                <a:latin typeface="Segoe UI"/>
              </a:rPr>
              <a:t>✓  </a:t>
            </a:r>
            <a:r>
              <a:rPr sz="1500" b="0">
                <a:solidFill>
                  <a:srgbClr val="EEF0F6"/>
                </a:solidFill>
                <a:latin typeface="Segoe UI"/>
              </a:rPr>
              <a:t>Trazas visibles en Langfuse, sin errores fatales.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E0A145"/>
                </a:solidFill>
                <a:latin typeface="Consolas"/>
              </a:rPr>
              <a:t>CIERRE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320040" cy="31750"/>
          </a:xfrm>
          <a:prstGeom prst="rect">
            <a:avLst/>
          </a:prstGeom>
          <a:solidFill>
            <a:srgbClr val="E0A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45775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400" b="1">
                <a:solidFill>
                  <a:srgbClr val="EEF0F6"/>
                </a:solidFill>
                <a:latin typeface="Segoe UI"/>
              </a:rPr>
              <a:t>Gracias.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